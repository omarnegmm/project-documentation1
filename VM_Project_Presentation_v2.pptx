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olors1.xml" ContentType="application/vnd.ms-office.chartcolorstyle+xml"/>
  <Override PartName="/ppt/charts/style2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style1.xml" ContentType="application/vnd.ms-office.chartstyle+xml"/>
  <Override PartName="/ppt/charts/colors3.xml" ContentType="application/vnd.ms-office.chartcolorstyle+xml"/>
  <Override PartName="/ppt/charts/chart1.xml" ContentType="application/vnd.openxmlformats-officedocument.drawingml.chart+xml"/>
  <Override PartName="/ppt/charts/style4.xml" ContentType="application/vnd.ms-office.chart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100" b="0" u="none" strike="noStrike">
                <a:solidFill>
                  <a:srgbClr val="FFFFFF"/>
                </a:solidFill>
                <a:uFillTx/>
                <a:latin typeface="Arial"/>
              </a:rPr>
              <a:t>Vulnerability Distribution (465 Total)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Vulnerabilities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E63946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4845F"/>
              </a:solidFill>
              <a:ln w="0">
                <a:noFill/>
              </a:ln>
            </c:spPr>
          </c:dPt>
          <c:dPt>
            <c:idx val="2"/>
            <c:spPr>
              <a:solidFill>
                <a:srgbClr val="FFB703"/>
              </a:solidFill>
              <a:ln w="0">
                <a:noFill/>
              </a:ln>
            </c:spPr>
          </c:dPt>
          <c:dPt>
            <c:idx val="3"/>
            <c:spPr>
              <a:solidFill>
                <a:srgbClr val="52B788"/>
              </a:solidFill>
              <a:ln w="0">
                <a:noFill/>
              </a:ln>
            </c:spPr>
          </c:dPt>
          <c:dPt>
            <c:idx val="4"/>
            <c:spPr>
              <a:solidFill>
                <a:srgbClr val="4CC9F0"/>
              </a:solidFill>
              <a:ln w="0">
                <a:noFill/>
              </a:ln>
            </c:spPr>
          </c:dPt>
          <c:dLbls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
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
</c:separator>
            </c:dLbl>
            <c:numFmt formatCode="0%" sourceLinked="0"/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5"/>
                <c:pt idx="0">
                  <c:v>Critical (27)</c:v>
                </c:pt>
                <c:pt idx="1">
                  <c:v>High (95)</c:v>
                </c:pt>
                <c:pt idx="2">
                  <c:v>Medium (140)</c:v>
                </c:pt>
                <c:pt idx="3">
                  <c:v>Low (18)</c:v>
                </c:pt>
                <c:pt idx="4">
                  <c:v>Info (185)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27</c:v>
                </c:pt>
                <c:pt idx="1">
                  <c:v>95</c:v>
                </c:pt>
                <c:pt idx="2">
                  <c:v>140</c:v>
                </c:pt>
                <c:pt idx="3">
                  <c:v>18</c:v>
                </c:pt>
                <c:pt idx="4">
                  <c:v>185</c:v>
                </c:pt>
              </c:numCache>
            </c:numRef>
          </c:val>
        </c:ser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FFFFFF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0D1117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100" b="0" u="none" strike="noStrike">
                <a:solidFill>
                  <a:srgbClr val="000000"/>
                </a:solidFill>
                <a:uFillTx/>
                <a:latin typeface="Arial"/>
              </a:rPr>
              <a:t>Vulnerability Count Comparison by Severity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Unauthenticated</c:v>
                </c:pt>
              </c:strCache>
            </c:strRef>
          </c:tx>
          <c:spPr>
            <a:solidFill>
              <a:srgbClr val="607D8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8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  <c:pt idx="4">
                  <c:v>Info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11</c:v>
                </c:pt>
                <c:pt idx="1">
                  <c:v>4</c:v>
                </c:pt>
                <c:pt idx="2">
                  <c:v>20</c:v>
                </c:pt>
                <c:pt idx="3">
                  <c:v>9</c:v>
                </c:pt>
                <c:pt idx="4">
                  <c:v>132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Authenticated</c:v>
                </c:pt>
              </c:strCache>
            </c:strRef>
          </c:tx>
          <c:spPr>
            <a:solidFill>
              <a:srgbClr val="00B4D8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8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  <c:pt idx="4">
                  <c:v>Info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27</c:v>
                </c:pt>
                <c:pt idx="1">
                  <c:v>95</c:v>
                </c:pt>
                <c:pt idx="2">
                  <c:v>140</c:v>
                </c:pt>
                <c:pt idx="3">
                  <c:v>18</c:v>
                </c:pt>
                <c:pt idx="4">
                  <c:v>185</c:v>
                </c:pt>
              </c:numCache>
            </c:numRef>
          </c:val>
        </c:ser>
        <c:gapWidth val="150"/>
        <c:overlap val="0"/>
        <c:axId val="24795518"/>
        <c:axId val="29834675"/>
      </c:barChart>
      <c:catAx>
        <c:axId val="2479551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29834675"/>
        <c:crosses val="autoZero"/>
        <c:auto val="1"/>
        <c:lblAlgn val="ctr"/>
        <c:lblOffset val="100"/>
        <c:noMultiLvlLbl val="0"/>
      </c:catAx>
      <c:valAx>
        <c:axId val="29834675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2479551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8FB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100" b="0" u="none" strike="noStrike">
                <a:solidFill>
                  <a:srgbClr val="000000"/>
                </a:solidFill>
                <a:uFillTx/>
                <a:latin typeface="Arial"/>
              </a:rPr>
              <a:t>Vulnerability Counts by Severity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63946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E63946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F4845F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FFB703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52B788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4CC9F0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E293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  <c:pt idx="4">
                  <c:v>Info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27</c:v>
                </c:pt>
                <c:pt idx="1">
                  <c:v>95</c:v>
                </c:pt>
                <c:pt idx="2">
                  <c:v>140</c:v>
                </c:pt>
                <c:pt idx="3">
                  <c:v>18</c:v>
                </c:pt>
                <c:pt idx="4">
                  <c:v>185</c:v>
                </c:pt>
              </c:numCache>
            </c:numRef>
          </c:val>
        </c:ser>
        <c:gapWidth val="150"/>
        <c:overlap val="0"/>
        <c:axId val="43393469"/>
        <c:axId val="98814277"/>
      </c:barChart>
      <c:catAx>
        <c:axId val="4339346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98814277"/>
        <c:crosses val="autoZero"/>
        <c:auto val="1"/>
        <c:lblAlgn val="ctr"/>
        <c:lblOffset val="100"/>
        <c:noMultiLvlLbl val="0"/>
      </c:catAx>
      <c:valAx>
        <c:axId val="98814277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4339346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8FB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100" b="0" u="none" strike="noStrike">
                <a:solidFill>
                  <a:srgbClr val="000000"/>
                </a:solidFill>
                <a:uFillTx/>
                <a:latin typeface="Arial"/>
              </a:rPr>
              <a:t>Top Patch Actions (Vulns)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Vulns Fixed</c:v>
                </c:pt>
              </c:strCache>
            </c:strRef>
          </c:tx>
          <c:spPr>
            <a:solidFill>
              <a:srgbClr val="0077B6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linux
(USN-1105)</c:v>
                </c:pt>
                <c:pt idx="1">
                  <c:v>linux
(USN-1660)</c:v>
                </c:pt>
                <c:pt idx="2">
                  <c:v>mysql
(USN-1467)</c:v>
                </c:pt>
                <c:pt idx="3">
                  <c:v>php5
(USN-1358)</c:v>
                </c:pt>
                <c:pt idx="4">
                  <c:v>apache2
(USN-1765)</c:v>
                </c:pt>
                <c:pt idx="5">
                  <c:v>openssl
(USN-1732)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234</c:v>
                </c:pt>
                <c:pt idx="1">
                  <c:v>87</c:v>
                </c:pt>
                <c:pt idx="2">
                  <c:v>58</c:v>
                </c:pt>
                <c:pt idx="3">
                  <c:v>53</c:v>
                </c:pt>
                <c:pt idx="4">
                  <c:v>35</c:v>
                </c:pt>
                <c:pt idx="5">
                  <c:v>32</c:v>
                </c:pt>
              </c:numCache>
            </c:numRef>
          </c:val>
        </c:ser>
        <c:gapWidth val="150"/>
        <c:overlap val="0"/>
        <c:axId val="89510011"/>
        <c:axId val="60394305"/>
      </c:barChart>
      <c:catAx>
        <c:axId val="8951001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60394305"/>
        <c:crosses val="autoZero"/>
        <c:auto val="1"/>
        <c:lblAlgn val="ctr"/>
        <c:lblOffset val="100"/>
        <c:noMultiLvlLbl val="0"/>
      </c:catAx>
      <c:valAx>
        <c:axId val="60394305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334155"/>
                </a:solidFill>
                <a:uFillTx/>
                <a:latin typeface="Arial"/>
              </a:defRPr>
            </a:pPr>
          </a:p>
        </c:txPr>
        <c:crossAx val="8951001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8FB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D63A28-E547-46A5-8548-3C23A272D95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B9CF8E-C1EA-47D8-9F8E-4D4B175CC8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5A5D2F-2B4F-43A0-99E3-5B09A5EFEA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44FBB7-E6DC-4640-B7A4-38C048447E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039472-9F22-4A3D-98BA-91B58F0162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CB7D3D0-531A-4535-ACBF-699CF7FF77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59A290-6D20-4ADB-A77D-4C17713F98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C730FD-EB4D-4D14-923F-C9D4DFD670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04EDEE-CD1A-40DA-8588-1D5B775FB2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0FB1DB-7E92-4579-A7FE-19AAB7F63F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8509BD-1428-48B2-AC84-E8D74BB524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50292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End-to-End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126180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Vulnerability Management 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19386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Project 3 — DEPI Cybersecurity Track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48640" y="2359080"/>
            <a:ext cx="3200040" cy="36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548640" y="2788920"/>
            <a:ext cx="2559960" cy="1371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283464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465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48640" y="35204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Total Vulnerabilities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3383280" y="2788920"/>
            <a:ext cx="2559960" cy="1371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383280" y="283464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3383280" y="35204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Critical Findings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6217920" y="2788920"/>
            <a:ext cx="2559960" cy="1371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00B4D8"/>
            </a:solidFill>
            <a:round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217920" y="2834640"/>
            <a:ext cx="2559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217920" y="35204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Remediation Actions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0" y="5052240"/>
            <a:ext cx="9143640" cy="910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0" y="484632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900" b="0" u="none" strike="noStrike">
                <a:solidFill>
                  <a:srgbClr val="8B949E"/>
                </a:solidFill>
                <a:effectLst/>
                <a:uFillTx/>
                <a:latin typeface="Calibri"/>
                <a:cs typeface="Calibri"/>
              </a:rPr>
              <a:t>وزارة الاتصالات وتكنولوجيا المعلومات  |  رواد مصر الرقمية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1188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077B6"/>
                </a:solidFill>
                <a:effectLst/>
                <a:uFillTx/>
                <a:latin typeface="Calibri"/>
                <a:ea typeface="Calibri"/>
              </a:rPr>
              <a:t>Objective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57200" y="155448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2E"/>
                </a:solidFill>
                <a:effectLst/>
                <a:uFillTx/>
                <a:latin typeface="Calibri"/>
                <a:ea typeface="Calibri"/>
              </a:rPr>
              <a:t>Build and operate a complete vulnerability management </a:t>
            </a:r>
            <a:r>
              <a:rPr lang="en-US" sz="1300" b="0" u="none" strike="noStrike">
                <a:solidFill>
                  <a:srgbClr val="1C1C2E"/>
                </a:solidFill>
                <a:effectLst/>
                <a:uFillTx/>
                <a:latin typeface="Calibri"/>
                <a:ea typeface="Calibri"/>
              </a:rPr>
              <a:t>workflow — from asset discovery through authenticated </a:t>
            </a:r>
            <a:r>
              <a:rPr lang="en-US" sz="1300" b="0" u="none" strike="noStrike">
                <a:solidFill>
                  <a:srgbClr val="1C1C2E"/>
                </a:solidFill>
                <a:effectLst/>
                <a:uFillTx/>
                <a:latin typeface="Calibri"/>
                <a:ea typeface="Calibri"/>
              </a:rPr>
              <a:t>scanning, CVSS analysis, remediation, and executive reporting.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365760" y="2286000"/>
            <a:ext cx="1919880" cy="25599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365760" y="2286000"/>
            <a:ext cx="1919880" cy="4111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365760" y="2304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365760" y="278892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Asset Discovery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&amp; Scanning Setup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2514600" y="2286000"/>
            <a:ext cx="1919880" cy="25599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2514600" y="2286000"/>
            <a:ext cx="1919880" cy="411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2514600" y="2304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2514600" y="278892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Authenticated Scan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CVSS v3.0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2"/>
          <p:cNvSpPr/>
          <p:nvPr/>
        </p:nvSpPr>
        <p:spPr>
          <a:xfrm>
            <a:off x="4663440" y="2286000"/>
            <a:ext cx="1919880" cy="25599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4663440" y="2286000"/>
            <a:ext cx="1919880" cy="411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663440" y="2304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4663440" y="278892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Remediation &amp;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Exception Handling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6812280" y="2286000"/>
            <a:ext cx="1919880" cy="2559960"/>
          </a:xfrm>
          <a:prstGeom prst="roundRect">
            <a:avLst>
              <a:gd name="adj" fmla="val 5714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6812280" y="2286000"/>
            <a:ext cx="1919880" cy="4111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6812280" y="230436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6812280" y="2788920"/>
            <a:ext cx="19198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Reporting &amp;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Final Presentation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2240280" y="3383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4389120" y="3383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6537960" y="3383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▶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457200" y="182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Week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457200" y="5029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Asset Discovery &amp; Scanning Setup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3"/>
          <p:cNvSpPr/>
          <p:nvPr/>
        </p:nvSpPr>
        <p:spPr>
          <a:xfrm>
            <a:off x="365760" y="1280160"/>
            <a:ext cx="4023000" cy="3474360"/>
          </a:xfrm>
          <a:prstGeom prst="roundRect">
            <a:avLst>
              <a:gd name="adj" fmla="val 3158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"/>
          <p:cNvSpPr/>
          <p:nvPr/>
        </p:nvSpPr>
        <p:spPr>
          <a:xfrm>
            <a:off x="365760" y="1371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TASKS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548640" y="178308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  Classify internal/external assets in scope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  Set up Nessus Essentials Plus as primary scanner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  Configure Metasploitable 2 VM as target (192.168.1.6)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  Define scan policy: Basic Network Scan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  Configure SSH credentials for authenticated scanning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6.  Establish scanning schedule and scope boundaries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6"/>
          <p:cNvSpPr/>
          <p:nvPr/>
        </p:nvSpPr>
        <p:spPr>
          <a:xfrm>
            <a:off x="4754880" y="1280160"/>
            <a:ext cx="4023000" cy="150840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7"/>
          <p:cNvSpPr/>
          <p:nvPr/>
        </p:nvSpPr>
        <p:spPr>
          <a:xfrm>
            <a:off x="4754880" y="13716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DELIVERABLES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4937760" y="178308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Asset inventory document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Scanning schedule and scope definition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Authenticated scan credentials configured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4754880" y="2971800"/>
            <a:ext cx="4023000" cy="173700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0"/>
          <p:cNvSpPr/>
          <p:nvPr/>
        </p:nvSpPr>
        <p:spPr>
          <a:xfrm>
            <a:off x="4754880" y="30632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4CC9F0"/>
                </a:solidFill>
                <a:effectLst/>
                <a:uFillTx/>
                <a:latin typeface="Calibri"/>
                <a:ea typeface="Calibri"/>
              </a:rPr>
              <a:t>TOOLS USED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4937760" y="347472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⚙  Nessus Essentials Plus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⚙  Oracle VirtualBox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⚙  Metasploitable 2 (Ubuntu 8.04 LTS)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57200" y="182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Week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457200" y="5029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Authenticated Vulnerability Assessment &amp; CVSS Analysis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365760" y="1234440"/>
            <a:ext cx="2605680" cy="59400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475560" y="12801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Target Host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475560" y="14904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192.168.1.6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3200400" y="1234440"/>
            <a:ext cx="2605680" cy="59400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310200" y="12801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Auth Status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310200" y="14904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✔ PASS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6035040" y="1234440"/>
            <a:ext cx="2605680" cy="59400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6144840" y="12801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Policy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6144840" y="149040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Basic Network Scan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365760" y="1984320"/>
            <a:ext cx="2605680" cy="59400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475560" y="20300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Severity Base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475560" y="224028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CVSS v3.0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3200400" y="1984320"/>
            <a:ext cx="2605680" cy="59400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3310200" y="20300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Duration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3310200" y="224028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15 minutes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8"/>
          <p:cNvSpPr/>
          <p:nvPr/>
        </p:nvSpPr>
        <p:spPr>
          <a:xfrm>
            <a:off x="6035040" y="1984320"/>
            <a:ext cx="2605680" cy="59400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6144840" y="203004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Remediations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0"/>
          <p:cNvSpPr/>
          <p:nvPr/>
        </p:nvSpPr>
        <p:spPr>
          <a:xfrm>
            <a:off x="6144840" y="2240280"/>
            <a:ext cx="237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68 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Chart 0"/>
          <p:cNvGraphicFramePr/>
          <p:nvPr/>
        </p:nvGraphicFramePr>
        <p:xfrm>
          <a:off x="274320" y="2834640"/>
          <a:ext cx="3840120" cy="210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3" name="Text 21"/>
          <p:cNvSpPr/>
          <p:nvPr/>
        </p:nvSpPr>
        <p:spPr>
          <a:xfrm>
            <a:off x="4572000" y="278892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Breakdown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4572000" y="315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Critical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3"/>
          <p:cNvSpPr/>
          <p:nvPr/>
        </p:nvSpPr>
        <p:spPr>
          <a:xfrm>
            <a:off x="5577840" y="3191400"/>
            <a:ext cx="3017160" cy="200880"/>
          </a:xfrm>
          <a:prstGeom prst="rect">
            <a:avLst/>
          </a:prstGeom>
          <a:solidFill>
            <a:srgbClr val="2A2F3A"/>
          </a:solidFill>
          <a:ln w="12700">
            <a:solidFill>
              <a:srgbClr val="2A2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4"/>
          <p:cNvSpPr/>
          <p:nvPr/>
        </p:nvSpPr>
        <p:spPr>
          <a:xfrm>
            <a:off x="5577840" y="3191400"/>
            <a:ext cx="169200" cy="200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5"/>
          <p:cNvSpPr/>
          <p:nvPr/>
        </p:nvSpPr>
        <p:spPr>
          <a:xfrm>
            <a:off x="8641080" y="31546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4572000" y="35020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High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7"/>
          <p:cNvSpPr/>
          <p:nvPr/>
        </p:nvSpPr>
        <p:spPr>
          <a:xfrm>
            <a:off x="5577840" y="3538800"/>
            <a:ext cx="3017160" cy="200880"/>
          </a:xfrm>
          <a:prstGeom prst="rect">
            <a:avLst/>
          </a:prstGeom>
          <a:solidFill>
            <a:srgbClr val="2A2F3A"/>
          </a:solidFill>
          <a:ln w="12700">
            <a:solidFill>
              <a:srgbClr val="2A2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8"/>
          <p:cNvSpPr/>
          <p:nvPr/>
        </p:nvSpPr>
        <p:spPr>
          <a:xfrm>
            <a:off x="5577840" y="3538800"/>
            <a:ext cx="596520" cy="20088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9"/>
          <p:cNvSpPr/>
          <p:nvPr/>
        </p:nvSpPr>
        <p:spPr>
          <a:xfrm>
            <a:off x="8641080" y="3502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4845F"/>
                </a:solidFill>
                <a:effectLst/>
                <a:uFillTx/>
                <a:latin typeface="Calibri"/>
                <a:ea typeface="Calibri"/>
              </a:rPr>
              <a:t>95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0"/>
          <p:cNvSpPr/>
          <p:nvPr/>
        </p:nvSpPr>
        <p:spPr>
          <a:xfrm>
            <a:off x="4572000" y="38494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Medium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1"/>
          <p:cNvSpPr/>
          <p:nvPr/>
        </p:nvSpPr>
        <p:spPr>
          <a:xfrm>
            <a:off x="5577840" y="3886200"/>
            <a:ext cx="3017160" cy="200880"/>
          </a:xfrm>
          <a:prstGeom prst="rect">
            <a:avLst/>
          </a:prstGeom>
          <a:solidFill>
            <a:srgbClr val="2A2F3A"/>
          </a:solidFill>
          <a:ln w="12700">
            <a:solidFill>
              <a:srgbClr val="2A2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2"/>
          <p:cNvSpPr/>
          <p:nvPr/>
        </p:nvSpPr>
        <p:spPr>
          <a:xfrm>
            <a:off x="5577840" y="3886200"/>
            <a:ext cx="880560" cy="200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3"/>
          <p:cNvSpPr/>
          <p:nvPr/>
        </p:nvSpPr>
        <p:spPr>
          <a:xfrm>
            <a:off x="8641080" y="38494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B703"/>
                </a:solidFill>
                <a:effectLst/>
                <a:uFillTx/>
                <a:latin typeface="Calibri"/>
                <a:ea typeface="Calibri"/>
              </a:rPr>
              <a:t>140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4"/>
          <p:cNvSpPr/>
          <p:nvPr/>
        </p:nvSpPr>
        <p:spPr>
          <a:xfrm>
            <a:off x="4572000" y="4197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Low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5"/>
          <p:cNvSpPr/>
          <p:nvPr/>
        </p:nvSpPr>
        <p:spPr>
          <a:xfrm>
            <a:off x="5577840" y="4233600"/>
            <a:ext cx="3017160" cy="200880"/>
          </a:xfrm>
          <a:prstGeom prst="rect">
            <a:avLst/>
          </a:prstGeom>
          <a:solidFill>
            <a:srgbClr val="2A2F3A"/>
          </a:solidFill>
          <a:ln w="12700">
            <a:solidFill>
              <a:srgbClr val="2A2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36"/>
          <p:cNvSpPr/>
          <p:nvPr/>
        </p:nvSpPr>
        <p:spPr>
          <a:xfrm>
            <a:off x="5577840" y="4233600"/>
            <a:ext cx="136800" cy="2008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7"/>
          <p:cNvSpPr/>
          <p:nvPr/>
        </p:nvSpPr>
        <p:spPr>
          <a:xfrm>
            <a:off x="8641080" y="41972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8"/>
          <p:cNvSpPr/>
          <p:nvPr/>
        </p:nvSpPr>
        <p:spPr>
          <a:xfrm>
            <a:off x="4572000" y="45446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Info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9"/>
          <p:cNvSpPr/>
          <p:nvPr/>
        </p:nvSpPr>
        <p:spPr>
          <a:xfrm>
            <a:off x="5577840" y="4581000"/>
            <a:ext cx="3017160" cy="200880"/>
          </a:xfrm>
          <a:prstGeom prst="rect">
            <a:avLst/>
          </a:prstGeom>
          <a:solidFill>
            <a:srgbClr val="2A2F3A"/>
          </a:solidFill>
          <a:ln w="12700">
            <a:solidFill>
              <a:srgbClr val="2A2F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0"/>
          <p:cNvSpPr/>
          <p:nvPr/>
        </p:nvSpPr>
        <p:spPr>
          <a:xfrm>
            <a:off x="5577840" y="4581000"/>
            <a:ext cx="1164240" cy="20088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1"/>
          <p:cNvSpPr/>
          <p:nvPr/>
        </p:nvSpPr>
        <p:spPr>
          <a:xfrm>
            <a:off x="8641080" y="45446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CC9F0"/>
                </a:solidFill>
                <a:effectLst/>
                <a:uFillTx/>
                <a:latin typeface="Calibri"/>
                <a:ea typeface="Calibri"/>
              </a:rPr>
              <a:t>185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Authenticated vs Unauthenticated Scan — Impact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Chart 0"/>
          <p:cNvGraphicFramePr/>
          <p:nvPr/>
        </p:nvGraphicFramePr>
        <p:xfrm>
          <a:off x="274320" y="1097280"/>
          <a:ext cx="5486040" cy="356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7" name="Text 2"/>
          <p:cNvSpPr/>
          <p:nvPr/>
        </p:nvSpPr>
        <p:spPr>
          <a:xfrm>
            <a:off x="5943600" y="109728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2E"/>
                </a:solidFill>
                <a:effectLst/>
                <a:uFillTx/>
                <a:latin typeface="Calibri"/>
                <a:ea typeface="Calibri"/>
              </a:rPr>
              <a:t>Additional findings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C1C2E"/>
                </a:solidFill>
                <a:effectLst/>
                <a:uFillTx/>
                <a:latin typeface="Calibri"/>
                <a:ea typeface="Calibri"/>
              </a:rPr>
              <a:t>from authentication: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5943600" y="1737360"/>
            <a:ext cx="2925720" cy="4384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6080760" y="181044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Critical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7086600" y="179208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11 → 27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138160" y="179208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+16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5943600" y="2267640"/>
            <a:ext cx="2925720" cy="4384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6080760" y="23407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High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7086600" y="23227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845F"/>
                </a:solidFill>
                <a:effectLst/>
                <a:uFillTx/>
                <a:latin typeface="Calibri"/>
                <a:ea typeface="Calibri"/>
              </a:rPr>
              <a:t>4 → 95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8138160" y="232272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+91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5943600" y="2797920"/>
            <a:ext cx="2925720" cy="4384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6080760" y="287136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Medium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7086600" y="285300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B703"/>
                </a:solidFill>
                <a:effectLst/>
                <a:uFillTx/>
                <a:latin typeface="Calibri"/>
                <a:ea typeface="Calibri"/>
              </a:rPr>
              <a:t>20 → 140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8138160" y="285300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+120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5943600" y="3328560"/>
            <a:ext cx="2925720" cy="4384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6080760" y="340164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7086600" y="338328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9 → 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8138160" y="338328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+9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9"/>
          <p:cNvSpPr/>
          <p:nvPr/>
        </p:nvSpPr>
        <p:spPr>
          <a:xfrm>
            <a:off x="5943600" y="3858840"/>
            <a:ext cx="2925720" cy="438480"/>
          </a:xfrm>
          <a:prstGeom prst="roundRect">
            <a:avLst>
              <a:gd name="adj" fmla="val 16667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0"/>
          <p:cNvSpPr/>
          <p:nvPr/>
        </p:nvSpPr>
        <p:spPr>
          <a:xfrm>
            <a:off x="6080760" y="39319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Total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7086600" y="39135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176 → 465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2"/>
          <p:cNvSpPr/>
          <p:nvPr/>
        </p:nvSpPr>
        <p:spPr>
          <a:xfrm>
            <a:off x="8138160" y="391356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+289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CVSS Risk Mapping — Critical &amp; High Vulnerabilities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Table 0"/>
          <p:cNvGraphicFramePr/>
          <p:nvPr/>
        </p:nvGraphicFramePr>
        <p:xfrm>
          <a:off x="274320" y="1097280"/>
          <a:ext cx="7406280" cy="3794400"/>
        </p:xfrm>
        <a:graphic>
          <a:graphicData uri="http://schemas.openxmlformats.org/drawingml/2006/table">
            <a:tbl>
              <a:tblPr/>
              <a:tblGrid>
                <a:gridCol w="2468880"/>
                <a:gridCol w="640080"/>
                <a:gridCol w="822960"/>
                <a:gridCol w="1645920"/>
                <a:gridCol w="1828800"/>
              </a:tblGrid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Vulnerability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CVSS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Severity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Family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Attack Type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VNC Server 'password' Password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10.0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Gain shell remotely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Default Credential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Bash RCE (Shellshock)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9.8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Gain shell remotely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Remote Code Exec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Apache Tomcat Ghostcat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9.8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Web Servers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Request Injection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Weak Debian OpenSSH Keys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9.8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Gain shell remotely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Auth Bypass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SSL v2 &amp; v3 Protocol Detection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9.8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Service Detection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Protocol Downgrade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Bind Shell Backdoor Detection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9.8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Backdoors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Backdoor Access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rlogin / rsh Service Detection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7.5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Service Detection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Unencrypted Access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Samba Badlock Vulnerability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7.5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General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Man-in-the-Middle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79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NFS Shares World Readable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7.5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RPC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Data Exposure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457200" y="1828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B703"/>
                </a:solidFill>
                <a:effectLst/>
                <a:uFillTx/>
                <a:latin typeface="Calibri"/>
                <a:ea typeface="Calibri"/>
              </a:rPr>
              <a:t>Week 3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457200" y="5029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Remediation Matrix — Top Actions by Vulnerability Count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Table 0"/>
          <p:cNvGraphicFramePr/>
          <p:nvPr/>
        </p:nvGraphicFramePr>
        <p:xfrm>
          <a:off x="274320" y="1234440"/>
          <a:ext cx="7406280" cy="3657240"/>
        </p:xfrm>
        <a:graphic>
          <a:graphicData uri="http://schemas.openxmlformats.org/drawingml/2006/table">
            <a:tbl>
              <a:tblPr/>
              <a:tblGrid>
                <a:gridCol w="4389120"/>
                <a:gridCol w="640080"/>
                <a:gridCol w="1005840"/>
                <a:gridCol w="1371600"/>
              </a:tblGrid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Remediation Action (Nessus)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Vulns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Priority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0D2137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 8.04: Update linux packages (USN-1105-1)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234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 Applied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 8.04: Update linux packages (USN-1660-1)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87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Critical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 Applied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mysql packages (USN-1467-1)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58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php5 regression (USN-1358-2)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53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apache2 packages (USN-1765-1)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35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 Progress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openssl packages (USN-1732-1)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32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mysql packages (USN-1017-1)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31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4845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High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freetype packages (USN-1686-1)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24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libtiff4 package (USN-1655-1)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52B7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Patched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61B22"/>
                    </a:solidFill>
                  </a:tcPr>
                </a:tc>
              </a:tr>
              <a:tr h="3322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CCCCCC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Ubuntu: Update libxml2 package (USN-1782-1)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1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18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Medium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50" b="0" u="none" strike="noStrike">
                          <a:solidFill>
                            <a:srgbClr val="00B4D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 Progress</a:t>
                      </a:r>
                      <a:endParaRPr lang="en-US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2A2F3A"/>
                      </a:solidFill>
                      <a:prstDash val="solid"/>
                    </a:lnL>
                    <a:lnR w="6480">
                      <a:solidFill>
                        <a:srgbClr val="2A2F3A"/>
                      </a:solidFill>
                      <a:prstDash val="solid"/>
                    </a:lnR>
                    <a:lnT w="6480">
                      <a:solidFill>
                        <a:srgbClr val="2A2F3A"/>
                      </a:solidFill>
                      <a:prstDash val="solid"/>
                    </a:lnT>
                    <a:lnB w="6480">
                      <a:solidFill>
                        <a:srgbClr val="2A2F3A"/>
                      </a:solidFill>
                      <a:prstDash val="solid"/>
                    </a:lnB>
                    <a:solidFill>
                      <a:srgbClr val="1C2333"/>
                    </a:solidFill>
                  </a:tcPr>
                </a:tc>
              </a:tr>
            </a:tbl>
          </a:graphicData>
        </a:graphic>
      </p:graphicFrame>
      <p:sp>
        <p:nvSpPr>
          <p:cNvPr id="135" name="Text 3"/>
          <p:cNvSpPr/>
          <p:nvPr/>
        </p:nvSpPr>
        <p:spPr>
          <a:xfrm>
            <a:off x="274320" y="4892040"/>
            <a:ext cx="8595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68 total remediation actions identified by Nessus  |  Total vulnerabilities addressable: 465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457200" y="18288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 4 — KPIs &amp; Executive Dashboard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"/>
          <p:cNvSpPr/>
          <p:nvPr/>
        </p:nvSpPr>
        <p:spPr>
          <a:xfrm>
            <a:off x="274320" y="1143000"/>
            <a:ext cx="1965600" cy="141696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"/>
          <p:cNvSpPr/>
          <p:nvPr/>
        </p:nvSpPr>
        <p:spPr>
          <a:xfrm>
            <a:off x="274320" y="123444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465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274320" y="181044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Total Vulnerabilities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274320" y="20847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Authenticated scan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2450520" y="1143000"/>
            <a:ext cx="1965600" cy="141696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2450520" y="123444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2450520" y="181044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Critical Findings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9"/>
          <p:cNvSpPr/>
          <p:nvPr/>
        </p:nvSpPr>
        <p:spPr>
          <a:xfrm>
            <a:off x="2450520" y="20847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Immediate action required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4626720" y="1143000"/>
            <a:ext cx="1965600" cy="141696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1"/>
          <p:cNvSpPr/>
          <p:nvPr/>
        </p:nvSpPr>
        <p:spPr>
          <a:xfrm>
            <a:off x="4626720" y="123444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68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4626720" y="181044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Remediation Actions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4626720" y="20847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Nessus-recommended steps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4"/>
          <p:cNvSpPr/>
          <p:nvPr/>
        </p:nvSpPr>
        <p:spPr>
          <a:xfrm>
            <a:off x="6803280" y="1143000"/>
            <a:ext cx="1965600" cy="1416960"/>
          </a:xfrm>
          <a:prstGeom prst="roundRect">
            <a:avLst>
              <a:gd name="adj" fmla="val 7742"/>
            </a:avLst>
          </a:prstGeom>
          <a:solidFill>
            <a:srgbClr val="0D1117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5"/>
          <p:cNvSpPr/>
          <p:nvPr/>
        </p:nvSpPr>
        <p:spPr>
          <a:xfrm>
            <a:off x="6803280" y="123444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B703"/>
                </a:solidFill>
                <a:effectLst/>
                <a:uFillTx/>
                <a:latin typeface="Calibri"/>
                <a:ea typeface="Calibri"/>
              </a:rPr>
              <a:t>15min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6"/>
          <p:cNvSpPr/>
          <p:nvPr/>
        </p:nvSpPr>
        <p:spPr>
          <a:xfrm>
            <a:off x="6803280" y="181044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Scan Duration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7"/>
          <p:cNvSpPr/>
          <p:nvPr/>
        </p:nvSpPr>
        <p:spPr>
          <a:xfrm>
            <a:off x="6803280" y="20847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Auth scan (faster)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Chart 0"/>
          <p:cNvGraphicFramePr/>
          <p:nvPr/>
        </p:nvGraphicFramePr>
        <p:xfrm>
          <a:off x="274320" y="2743200"/>
          <a:ext cx="5028840" cy="219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55" name="Chart 1"/>
          <p:cNvGraphicFramePr/>
          <p:nvPr/>
        </p:nvGraphicFramePr>
        <p:xfrm>
          <a:off x="5486400" y="2743200"/>
          <a:ext cx="3382920" cy="219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57200" y="1828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Summary &amp; Lessons Learned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365760" y="960120"/>
            <a:ext cx="4023000" cy="39315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365760" y="10515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52B788"/>
                </a:solidFill>
                <a:effectLst/>
                <a:uFillTx/>
                <a:latin typeface="Calibri"/>
                <a:ea typeface="Calibri"/>
              </a:rPr>
              <a:t>KEY OUTCOMES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548640" y="1463040"/>
            <a:ext cx="3657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Authenticated scan revealed 465 vulns — 2.6x more than unauthenticated (176)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27 Critical findings identified including Shellshock, Ghostcat &amp; VNC backdoor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68 remediation actions generated directly by Nessus with USN references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Top fix: linux package update (USN-1105-1) addresses 234 vulnerabilities alone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All Critical &amp; High findings mapped to CVSS v3.0 scores with attack vectors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✔  Executive dashboard with KPIs, severity charts, and patch action report delivered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4754880" y="960120"/>
            <a:ext cx="4023000" cy="3931560"/>
          </a:xfrm>
          <a:prstGeom prst="roundRect">
            <a:avLst>
              <a:gd name="adj" fmla="val 2791"/>
            </a:avLst>
          </a:prstGeom>
          <a:solidFill>
            <a:srgbClr val="161B22"/>
          </a:solidFill>
          <a:ln w="0">
            <a:noFill/>
          </a:ln>
          <a:effectLst>
            <a:outerShdw algn="bl" blurRad="101520" dir="27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4754880" y="10515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LESSONS LEARNED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4937760" y="1463040"/>
            <a:ext cx="3657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▸  Authenticated scans expose drastically more findings — critical for real assessments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▸  CVSS score ≠ remediation priority; business context and exploitability (EPSS) matter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▸  EOL OS (Ubuntu 8.04) means most packages can't be patched — formal exception needed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▸  Nessus Remediations tab maps USN advisories directly to actionable patch commands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▸  Auth failure (wrong credentials) silently reduces scan depth — always verify Auth: Pass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▸  Single package update (linux USN-1105-1) can resolve hundreds of vulnerabilities at once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57200" y="10058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457200" y="196596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End-to-End Vulnerability Management System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3200400" y="2514600"/>
            <a:ext cx="2742840" cy="36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371600" y="278892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Project: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2606040" y="278892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DEPI Cybersecurity Track — Project 3&lt;End-to-End vulnerability assessment&gt;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1371600" y="32644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Tools: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2606040" y="326448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Nessus Essentials Plus  |  Metasploitable 2  |  VirtualBox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9"/>
          <p:cNvSpPr/>
          <p:nvPr/>
        </p:nvSpPr>
        <p:spPr>
          <a:xfrm>
            <a:off x="1371600" y="37400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B949E"/>
                </a:solidFill>
                <a:effectLst/>
                <a:uFillTx/>
                <a:latin typeface="Calibri"/>
                <a:ea typeface="Calibri"/>
              </a:rPr>
              <a:t>Results: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2606040" y="37400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465 vulns  |  27 Critical  |  68 Remediation Actions  |  CVSS v3.0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1"/>
          <p:cNvSpPr/>
          <p:nvPr/>
        </p:nvSpPr>
        <p:spPr>
          <a:xfrm>
            <a:off x="0" y="466344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000" b="0" u="none" strike="noStrike">
                <a:solidFill>
                  <a:srgbClr val="8B949E"/>
                </a:solidFill>
                <a:effectLst/>
                <a:uFillTx/>
                <a:latin typeface="Calibri"/>
                <a:cs typeface="Calibri"/>
              </a:rPr>
              <a:t>وزارة الاتصالات وتكنولوجيا المعلومات  |  رواد مصر الرقمية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LibreOffice/26.2.2.2$Linux_X86_64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2026-06-18T11:31:51Z</dcterms:created>
  <dc:creator>PptxGenJS</dc:creator>
  <dc:description/>
  <dc:language>en-US</dc:language>
  <cp:lastModifiedBy/>
  <dcterms:modified xsi:type="dcterms:W3CDTF">2026-07-02T21:36:44Z</dcterms:modified>
  <cp:revision>2</cp:revision>
  <dc:subject>PptxGenJS Presentation</dc:subject>
  <dc:title>End-to-End Vulnerability Management System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